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diagrams/quickStyle1.xml" ContentType="application/vnd.openxmlformats-officedocument.drawingml.diagramQuickStyle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presProps.xml" ContentType="application/vnd.openxmlformats-officedocument.presentationml.presProps+xml"/>
  <Override PartName="/ppt/diagrams/drawing1.xml" ContentType="application/vnd.openxmlformats-officedocument.drawingml.diagramDrawing+xml"/>
  <Override PartName="/ppt/slideLayouts/slideLayout2.xml" ContentType="application/vnd.openxmlformats-officedocument.presentationml.slideLayout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6" d="100"/>
          <a:sy n="86" d="100"/>
        </p:scale>
        <p:origin x="96" y="88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diagrams/_rels/drawing1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media1.svg"/><Relationship Id="rId3" Type="http://schemas.openxmlformats.org/officeDocument/2006/relationships/image" Target="../media/image6.png"/><Relationship Id="rId4" Type="http://schemas.openxmlformats.org/officeDocument/2006/relationships/image" Target="../media/media2.svg"/><Relationship Id="rId5" Type="http://schemas.openxmlformats.org/officeDocument/2006/relationships/image" Target="../media/image7.png"/><Relationship Id="rId6" Type="http://schemas.openxmlformats.org/officeDocument/2006/relationships/image" Target="../media/media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53FC758E-3BF2-4F3F-9D3D-D40C359287B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E3D34D8C-2B5C-4B5C-879F-D7820E23B1C8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en-US"/>
            <a:t>The application is containerized using a Dockerfile (to be a friend with render.com)</a:t>
          </a:r>
          <a:endParaRPr/>
        </a:p>
      </dgm:t>
    </dgm:pt>
    <dgm:pt modelId="{1E3F70F7-2EB7-4E97-93DB-77912E962A08}" type="parTrans" cxnId="{D8B6F820-93BB-403E-A195-5B4AF621837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30AA7BC-CA81-4922-AD82-D63E77CEDB6D}" type="sibTrans" cxnId="{D8B6F820-93BB-403E-A195-5B4AF621837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C709209-0F5B-4854-92DD-694F10063D78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en-US"/>
            <a:t>Eliminates "works on my machine" issues by standardizing the server environment</a:t>
          </a:r>
          <a:endParaRPr/>
        </a:p>
      </dgm:t>
    </dgm:pt>
    <dgm:pt modelId="{658A6067-7CF4-4AA4-83CE-4129FECBDB4B}" type="parTrans" cxnId="{02549E4A-42EC-44E5-A4E8-AE0A09D2B0F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DEA1ACB-90B5-4F0A-9FF5-E9B10EFA92F4}" type="sibTrans" cxnId="{02549E4A-42EC-44E5-A4E8-AE0A09D2B0F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7FC7BB3-E150-4F4A-9F05-1F139754B1A3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en-US"/>
            <a:t>Additional environment variables and secrets can be further specified for best security practices</a:t>
          </a:r>
          <a:endParaRPr/>
        </a:p>
      </dgm:t>
    </dgm:pt>
    <dgm:pt modelId="{B27D6907-6BA9-4130-80AE-A5DBAC8166C2}" type="parTrans" cxnId="{BF16E911-1DF5-4EBC-BD51-E151E49AB5A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F837889-8745-4378-BEB0-456231965D31}" type="sibTrans" cxnId="{BF16E911-1DF5-4EBC-BD51-E151E49AB5A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A153F71-C40A-4C39-A2EC-8326BF88032F}" type="pres">
      <dgm:prSet presAssocID="{53FC758E-3BF2-4F3F-9D3D-D40C359287B8}" presName="root" presStyleCnt="0">
        <dgm:presLayoutVars>
          <dgm:dir val="norm"/>
          <dgm:resizeHandles val="exact"/>
        </dgm:presLayoutVars>
      </dgm:prSet>
      <dgm:spPr bwMode="auto"/>
    </dgm:pt>
    <dgm:pt modelId="{8A9B8192-F9BC-4E81-AF04-2B006D578F0A}" type="pres">
      <dgm:prSet presAssocID="{E3D34D8C-2B5C-4B5C-879F-D7820E23B1C8}" presName="compNode" presStyleCnt="0"/>
      <dgm:spPr bwMode="auto"/>
    </dgm:pt>
    <dgm:pt modelId="{E4E37ABB-0202-40BC-B2BC-7C93D386A69C}" type="pres">
      <dgm:prSet presAssocID="{E3D34D8C-2B5C-4B5C-879F-D7820E23B1C8}" presName="bgRect" presStyleLbl="bgShp" presStyleIdx="0" presStyleCnt="3"/>
      <dgm:spPr bwMode="auto"/>
    </dgm:pt>
    <dgm:pt modelId="{F9E69207-51AB-473E-8CA2-F7A68AE9708D}" type="pres">
      <dgm:prSet presAssocID="{E3D34D8C-2B5C-4B5C-879F-D7820E23B1C8}" presName="iconRect" presStyleLbl="node1" presStyleIdx="0" presStyleCnt="3"/>
      <dgm:spPr bwMode="auto">
        <a:blipFill rotWithShape="1">
          <a:blip r:embed="rId1"/>
          <a:stretch/>
        </a:blipFill>
      </dgm:spPr>
    </dgm:pt>
    <dgm:pt modelId="{D1822C8E-4A66-40C8-99BC-2FEE649230AE}" type="pres">
      <dgm:prSet presAssocID="{E3D34D8C-2B5C-4B5C-879F-D7820E23B1C8}" presName="spaceRect" presStyleCnt="0"/>
      <dgm:spPr bwMode="auto"/>
    </dgm:pt>
    <dgm:pt modelId="{A807C648-A379-4EA1-9BB7-D4B973148C57}" type="pres">
      <dgm:prSet presAssocID="{E3D34D8C-2B5C-4B5C-879F-D7820E23B1C8}" presName="parTx" presStyleLbl="revTx" presStyleIdx="0" presStyleCnt="3">
        <dgm:presLayoutVars>
          <dgm:chMax val="0"/>
          <dgm:chPref val="0"/>
        </dgm:presLayoutVars>
      </dgm:prSet>
      <dgm:spPr bwMode="auto"/>
    </dgm:pt>
    <dgm:pt modelId="{9A487417-1F43-4E82-9137-F8D22AB3F471}" type="pres">
      <dgm:prSet presAssocID="{230AA7BC-CA81-4922-AD82-D63E77CEDB6D}" presName="sibTrans" presStyleCnt="0"/>
      <dgm:spPr bwMode="auto"/>
    </dgm:pt>
    <dgm:pt modelId="{403270B5-40C1-4416-B1EC-8ADD13E87599}" type="pres">
      <dgm:prSet presAssocID="{9C709209-0F5B-4854-92DD-694F10063D78}" presName="compNode" presStyleCnt="0"/>
      <dgm:spPr bwMode="auto"/>
    </dgm:pt>
    <dgm:pt modelId="{35FDE415-2410-4CBC-86B3-4C8D12AFF378}" type="pres">
      <dgm:prSet presAssocID="{9C709209-0F5B-4854-92DD-694F10063D78}" presName="bgRect" presStyleLbl="bgShp" presStyleIdx="1" presStyleCnt="3"/>
      <dgm:spPr bwMode="auto"/>
    </dgm:pt>
    <dgm:pt modelId="{6491CDC3-E96F-4FDC-95EA-F39904A31B4A}" type="pres">
      <dgm:prSet presAssocID="{9C709209-0F5B-4854-92DD-694F10063D78}" presName="iconRect" presStyleLbl="node1" presStyleIdx="1" presStyleCnt="3"/>
      <dgm:spPr bwMode="auto">
        <a:blipFill rotWithShape="1">
          <a:blip r:embed="rId2"/>
          <a:stretch/>
        </a:blipFill>
      </dgm:spPr>
    </dgm:pt>
    <dgm:pt modelId="{47BA410A-9AF4-43CF-8B4F-99EECE6F047F}" type="pres">
      <dgm:prSet presAssocID="{9C709209-0F5B-4854-92DD-694F10063D78}" presName="spaceRect" presStyleCnt="0"/>
      <dgm:spPr bwMode="auto"/>
    </dgm:pt>
    <dgm:pt modelId="{744A3857-CABF-492E-9C4B-A763124F4473}" type="pres">
      <dgm:prSet presAssocID="{9C709209-0F5B-4854-92DD-694F10063D78}" presName="parTx" presStyleLbl="revTx" presStyleIdx="1" presStyleCnt="3">
        <dgm:presLayoutVars>
          <dgm:chMax val="0"/>
          <dgm:chPref val="0"/>
        </dgm:presLayoutVars>
      </dgm:prSet>
      <dgm:spPr bwMode="auto"/>
    </dgm:pt>
    <dgm:pt modelId="{12099622-9C66-44B8-80E2-AF0A5490AB6B}" type="pres">
      <dgm:prSet presAssocID="{9DEA1ACB-90B5-4F0A-9FF5-E9B10EFA92F4}" presName="sibTrans" presStyleCnt="0"/>
      <dgm:spPr bwMode="auto"/>
    </dgm:pt>
    <dgm:pt modelId="{D3E3F233-EE9E-451E-8FC3-1DE21225211E}" type="pres">
      <dgm:prSet presAssocID="{97FC7BB3-E150-4F4A-9F05-1F139754B1A3}" presName="compNode" presStyleCnt="0"/>
      <dgm:spPr bwMode="auto"/>
    </dgm:pt>
    <dgm:pt modelId="{8A26C667-5B7C-414B-B364-2E888124B01A}" type="pres">
      <dgm:prSet presAssocID="{97FC7BB3-E150-4F4A-9F05-1F139754B1A3}" presName="bgRect" presStyleLbl="bgShp" presStyleIdx="2" presStyleCnt="3"/>
      <dgm:spPr bwMode="auto"/>
    </dgm:pt>
    <dgm:pt modelId="{FC41C97A-9DE4-4771-BB20-2502A094344D}" type="pres">
      <dgm:prSet presAssocID="{97FC7BB3-E150-4F4A-9F05-1F139754B1A3}" presName="iconRect" presStyleLbl="node1" presStyleIdx="2" presStyleCnt="3"/>
      <dgm:spPr bwMode="auto">
        <a:blipFill rotWithShape="1">
          <a:blip r:embed="rId3"/>
          <a:stretch/>
        </a:blipFill>
      </dgm:spPr>
    </dgm:pt>
    <dgm:pt modelId="{EE9500C9-560C-42EE-9822-29B2766F681A}" type="pres">
      <dgm:prSet presAssocID="{97FC7BB3-E150-4F4A-9F05-1F139754B1A3}" presName="spaceRect" presStyleCnt="0"/>
      <dgm:spPr bwMode="auto"/>
    </dgm:pt>
    <dgm:pt modelId="{AFAC0B46-2CE9-4BB5-947A-C0A03F83F3BF}" type="pres">
      <dgm:prSet presAssocID="{97FC7BB3-E150-4F4A-9F05-1F139754B1A3}" presName="parTx" presStyleLbl="revTx" presStyleIdx="2" presStyleCnt="3">
        <dgm:presLayoutVars>
          <dgm:chMax val="0"/>
          <dgm:chPref val="0"/>
        </dgm:presLayoutVars>
      </dgm:prSet>
      <dgm:spPr bwMode="auto"/>
    </dgm:pt>
  </dgm:ptLst>
  <dgm:cxnLst>
    <dgm:cxn modelId="{BF16E911-1DF5-4EBC-BD51-E151E49AB5A9}" type="parOf" srcId="{53FC758E-3BF2-4F3F-9D3D-D40C359287B8}" destId="{97FC7BB3-E150-4F4A-9F05-1F139754B1A3}" srcOrd="2" destOrd="0" parTransId="{B27D6907-6BA9-4130-80AE-A5DBAC8166C2}" sibTransId="{DF837889-8745-4378-BEB0-456231965D31}"/>
    <dgm:cxn modelId="{D8B6F820-93BB-403E-A195-5B4AF6218377}" type="parOf" srcId="{53FC758E-3BF2-4F3F-9D3D-D40C359287B8}" destId="{E3D34D8C-2B5C-4B5C-879F-D7820E23B1C8}" srcOrd="0" destOrd="0" parTransId="{1E3F70F7-2EB7-4E97-93DB-77912E962A08}" sibTransId="{230AA7BC-CA81-4922-AD82-D63E77CEDB6D}"/>
    <dgm:cxn modelId="{FCB09C2E-AED0-4AA0-B5D7-C77EF571896B}" type="presOf" srcId="{97FC7BB3-E150-4F4A-9F05-1F139754B1A3}" destId="{AFAC0B46-2CE9-4BB5-947A-C0A03F83F3BF}" srcOrd="0" destOrd="0" presId="urn:microsoft.com/office/officeart/2018/2/layout/IconVerticalSolidList"/>
    <dgm:cxn modelId="{02549E4A-42EC-44E5-A4E8-AE0A09D2B0F5}" type="parOf" srcId="{53FC758E-3BF2-4F3F-9D3D-D40C359287B8}" destId="{9C709209-0F5B-4854-92DD-694F10063D78}" srcOrd="1" destOrd="0" parTransId="{658A6067-7CF4-4AA4-83CE-4129FECBDB4B}" sibTransId="{9DEA1ACB-90B5-4F0A-9FF5-E9B10EFA92F4}"/>
    <dgm:cxn modelId="{EC815BD3-BD2B-42D4-B456-047CE06006B9}" type="presOf" srcId="{E3D34D8C-2B5C-4B5C-879F-D7820E23B1C8}" destId="{A807C648-A379-4EA1-9BB7-D4B973148C57}" srcOrd="0" destOrd="0" presId="urn:microsoft.com/office/officeart/2018/2/layout/IconVerticalSolidList"/>
    <dgm:cxn modelId="{32315FE1-E50A-420F-9E27-986945C778F5}" type="presOf" srcId="{9C709209-0F5B-4854-92DD-694F10063D78}" destId="{744A3857-CABF-492E-9C4B-A763124F4473}" srcOrd="0" destOrd="0" presId="urn:microsoft.com/office/officeart/2018/2/layout/IconVerticalSolidList"/>
    <dgm:cxn modelId="{270D1DFA-D189-4654-B8C6-C1516B96092D}" type="presOf" srcId="{53FC758E-3BF2-4F3F-9D3D-D40C359287B8}" destId="{AA153F71-C40A-4C39-A2EC-8326BF88032F}" srcOrd="0" destOrd="0" presId="urn:microsoft.com/office/officeart/2018/2/layout/IconVerticalSolidList"/>
    <dgm:cxn modelId="{971A7ACB-CD88-4BBF-8A7D-27AA7DD06052}" type="presParOf" srcId="{AA153F71-C40A-4C39-A2EC-8326BF88032F}" destId="{8A9B8192-F9BC-4E81-AF04-2B006D578F0A}" srcOrd="0" destOrd="0" presId="urn:microsoft.com/office/officeart/2018/2/layout/IconVerticalSolidList"/>
    <dgm:cxn modelId="{E358B68E-1976-4344-9DAA-198FBD0CBD54}" type="presParOf" srcId="{8A9B8192-F9BC-4E81-AF04-2B006D578F0A}" destId="{E4E37ABB-0202-40BC-B2BC-7C93D386A69C}" srcOrd="0" destOrd="0" presId="urn:microsoft.com/office/officeart/2018/2/layout/IconVerticalSolidList"/>
    <dgm:cxn modelId="{F6044DE8-B684-4E90-97CB-00081E8B2096}" type="presParOf" srcId="{8A9B8192-F9BC-4E81-AF04-2B006D578F0A}" destId="{F9E69207-51AB-473E-8CA2-F7A68AE9708D}" srcOrd="1" destOrd="0" presId="urn:microsoft.com/office/officeart/2018/2/layout/IconVerticalSolidList"/>
    <dgm:cxn modelId="{3A814A04-69A0-41C2-B554-86F88DF5EFF7}" type="presParOf" srcId="{8A9B8192-F9BC-4E81-AF04-2B006D578F0A}" destId="{D1822C8E-4A66-40C8-99BC-2FEE649230AE}" srcOrd="2" destOrd="0" presId="urn:microsoft.com/office/officeart/2018/2/layout/IconVerticalSolidList"/>
    <dgm:cxn modelId="{DA26F7D8-F0CA-4FD5-A4CB-1312ECECC6AF}" type="presParOf" srcId="{8A9B8192-F9BC-4E81-AF04-2B006D578F0A}" destId="{A807C648-A379-4EA1-9BB7-D4B973148C57}" srcOrd="3" destOrd="0" presId="urn:microsoft.com/office/officeart/2018/2/layout/IconVerticalSolidList"/>
    <dgm:cxn modelId="{C63C4D3A-D16D-4180-AEBA-519C74158CC4}" type="presParOf" srcId="{AA153F71-C40A-4C39-A2EC-8326BF88032F}" destId="{9A487417-1F43-4E82-9137-F8D22AB3F471}" srcOrd="1" destOrd="0" presId="urn:microsoft.com/office/officeart/2018/2/layout/IconVerticalSolidList"/>
    <dgm:cxn modelId="{12EDAF60-240A-4A0F-A9E0-14A3FBEB07B6}" type="presParOf" srcId="{AA153F71-C40A-4C39-A2EC-8326BF88032F}" destId="{403270B5-40C1-4416-B1EC-8ADD13E87599}" srcOrd="2" destOrd="0" presId="urn:microsoft.com/office/officeart/2018/2/layout/IconVerticalSolidList"/>
    <dgm:cxn modelId="{28CEEB16-8E41-435A-9272-82CAF48E53C5}" type="presParOf" srcId="{403270B5-40C1-4416-B1EC-8ADD13E87599}" destId="{35FDE415-2410-4CBC-86B3-4C8D12AFF378}" srcOrd="0" destOrd="0" presId="urn:microsoft.com/office/officeart/2018/2/layout/IconVerticalSolidList"/>
    <dgm:cxn modelId="{4F43EE3F-7F4F-4659-B2B8-4302DD7D716E}" type="presParOf" srcId="{403270B5-40C1-4416-B1EC-8ADD13E87599}" destId="{6491CDC3-E96F-4FDC-95EA-F39904A31B4A}" srcOrd="1" destOrd="0" presId="urn:microsoft.com/office/officeart/2018/2/layout/IconVerticalSolidList"/>
    <dgm:cxn modelId="{DBB2494D-7A0A-43CE-B813-408623E6900A}" type="presParOf" srcId="{403270B5-40C1-4416-B1EC-8ADD13E87599}" destId="{47BA410A-9AF4-43CF-8B4F-99EECE6F047F}" srcOrd="2" destOrd="0" presId="urn:microsoft.com/office/officeart/2018/2/layout/IconVerticalSolidList"/>
    <dgm:cxn modelId="{F21ED6D7-EF78-4086-8C0E-20826EA78F74}" type="presParOf" srcId="{403270B5-40C1-4416-B1EC-8ADD13E87599}" destId="{744A3857-CABF-492E-9C4B-A763124F4473}" srcOrd="3" destOrd="0" presId="urn:microsoft.com/office/officeart/2018/2/layout/IconVerticalSolidList"/>
    <dgm:cxn modelId="{2CAF5FA9-F9EC-4F24-9A8E-C6CADF6A94F6}" type="presParOf" srcId="{AA153F71-C40A-4C39-A2EC-8326BF88032F}" destId="{12099622-9C66-44B8-80E2-AF0A5490AB6B}" srcOrd="3" destOrd="0" presId="urn:microsoft.com/office/officeart/2018/2/layout/IconVerticalSolidList"/>
    <dgm:cxn modelId="{D424803A-669C-4B19-90D4-95FBB5CC3584}" type="presParOf" srcId="{AA153F71-C40A-4C39-A2EC-8326BF88032F}" destId="{D3E3F233-EE9E-451E-8FC3-1DE21225211E}" srcOrd="4" destOrd="0" presId="urn:microsoft.com/office/officeart/2018/2/layout/IconVerticalSolidList"/>
    <dgm:cxn modelId="{CAA8A674-DB2D-495C-96FE-C3AA6300B6A8}" type="presParOf" srcId="{D3E3F233-EE9E-451E-8FC3-1DE21225211E}" destId="{8A26C667-5B7C-414B-B364-2E888124B01A}" srcOrd="0" destOrd="0" presId="urn:microsoft.com/office/officeart/2018/2/layout/IconVerticalSolidList"/>
    <dgm:cxn modelId="{4BF931F9-2AE3-4492-98D8-FA8560E7B2BD}" type="presParOf" srcId="{D3E3F233-EE9E-451E-8FC3-1DE21225211E}" destId="{FC41C97A-9DE4-4771-BB20-2502A094344D}" srcOrd="1" destOrd="0" presId="urn:microsoft.com/office/officeart/2018/2/layout/IconVerticalSolidList"/>
    <dgm:cxn modelId="{407F38C0-00F2-417A-AAC0-FB10743A134B}" type="presParOf" srcId="{D3E3F233-EE9E-451E-8FC3-1DE21225211E}" destId="{EE9500C9-560C-42EE-9822-29B2766F681A}" srcOrd="2" destOrd="0" presId="urn:microsoft.com/office/officeart/2018/2/layout/IconVerticalSolidList"/>
    <dgm:cxn modelId="{F9BD266C-FB52-42DB-BF7F-480FF18A9025}" type="presParOf" srcId="{D3E3F233-EE9E-451E-8FC3-1DE21225211E}" destId="{AFAC0B46-2CE9-4BB5-947A-C0A03F83F3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50670679" name=""/>
      <dsp:cNvGrpSpPr/>
    </dsp:nvGrpSpPr>
    <dsp:grpSpPr bwMode="auto">
      <a:xfrm rot="0">
        <a:off x="0" y="0"/>
        <a:ext cx="4361693" cy="4096514"/>
        <a:chOff x="0" y="0"/>
        <a:chExt cx="4361693" cy="4096514"/>
      </a:xfrm>
    </dsp:grpSpPr>
    <dsp:sp modelId="{E4E37ABB-0202-40BC-B2BC-7C93D386A69C}">
      <dsp:nvSpPr>
        <dsp:cNvPr id="1984677922" name=""/>
        <dsp:cNvSpPr/>
      </dsp:nvSpPr>
      <dsp:spPr bwMode="auto">
        <a:xfrm>
          <a:off x="0" y="500"/>
          <a:ext cx="4361693" cy="11701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F9E69207-51AB-473E-8CA2-F7A68AE9708D}">
      <dsp:nvSpPr>
        <dsp:cNvPr id="438508899" name=""/>
        <dsp:cNvSpPr/>
      </dsp:nvSpPr>
      <dsp:spPr bwMode="auto">
        <a:xfrm>
          <a:off x="353969" y="263783"/>
          <a:ext cx="643580" cy="643580"/>
        </a:xfrm>
        <a:prstGeom prst="rect">
          <a:avLst/>
        </a:prstGeom>
        <a:blipFill rotWithShape="1">
          <a:blip r:embed="rId1"/>
          <a:stretch/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807C648-A379-4EA1-9BB7-D4B973148C57}">
      <dsp:nvSpPr>
        <dsp:cNvPr id="2050959597" name=""/>
        <dsp:cNvSpPr/>
      </dsp:nvSpPr>
      <dsp:spPr bwMode="auto">
        <a:xfrm>
          <a:off x="1351519" y="500"/>
          <a:ext cx="3010173" cy="117014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3841" tIns="123841" rIns="123841" bIns="12384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/>
            <a:t>The application is containerized using a Dockerfile (to be a friend with render.com)</a:t>
          </a:r>
          <a:endParaRPr/>
        </a:p>
      </dsp:txBody>
      <dsp:txXfrm>
        <a:off x="1351519" y="500"/>
        <a:ext cx="3010173" cy="1170146"/>
      </dsp:txXfrm>
    </dsp:sp>
    <dsp:sp modelId="{35FDE415-2410-4CBC-86B3-4C8D12AFF378}">
      <dsp:nvSpPr>
        <dsp:cNvPr id="1955111790" name=""/>
        <dsp:cNvSpPr/>
      </dsp:nvSpPr>
      <dsp:spPr bwMode="auto">
        <a:xfrm>
          <a:off x="0" y="1463183"/>
          <a:ext cx="4361693" cy="11701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6491CDC3-E96F-4FDC-95EA-F39904A31B4A}">
      <dsp:nvSpPr>
        <dsp:cNvPr id="553794766" name=""/>
        <dsp:cNvSpPr/>
      </dsp:nvSpPr>
      <dsp:spPr bwMode="auto">
        <a:xfrm>
          <a:off x="353969" y="1726466"/>
          <a:ext cx="643580" cy="643580"/>
        </a:xfrm>
        <a:prstGeom prst="rect">
          <a:avLst/>
        </a:prstGeom>
        <a:blipFill rotWithShape="1">
          <a:blip r:embed="rId3"/>
          <a:stretch/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744A3857-CABF-492E-9C4B-A763124F4473}">
      <dsp:nvSpPr>
        <dsp:cNvPr id="1140719000" name=""/>
        <dsp:cNvSpPr/>
      </dsp:nvSpPr>
      <dsp:spPr bwMode="auto">
        <a:xfrm>
          <a:off x="1351519" y="1463183"/>
          <a:ext cx="3010173" cy="117014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3841" tIns="123841" rIns="123841" bIns="12384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/>
            <a:t>Eliminates "works on my machine" issues by standardizing the server environment</a:t>
          </a:r>
          <a:endParaRPr/>
        </a:p>
      </dsp:txBody>
      <dsp:txXfrm>
        <a:off x="1351519" y="1463183"/>
        <a:ext cx="3010173" cy="1170146"/>
      </dsp:txXfrm>
    </dsp:sp>
    <dsp:sp modelId="{8A26C667-5B7C-414B-B364-2E888124B01A}">
      <dsp:nvSpPr>
        <dsp:cNvPr id="481506893" name=""/>
        <dsp:cNvSpPr/>
      </dsp:nvSpPr>
      <dsp:spPr bwMode="auto">
        <a:xfrm>
          <a:off x="0" y="2925867"/>
          <a:ext cx="4361693" cy="11701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FC41C97A-9DE4-4771-BB20-2502A094344D}">
      <dsp:nvSpPr>
        <dsp:cNvPr id="615457277" name=""/>
        <dsp:cNvSpPr/>
      </dsp:nvSpPr>
      <dsp:spPr bwMode="auto">
        <a:xfrm>
          <a:off x="353969" y="3189150"/>
          <a:ext cx="643580" cy="643580"/>
        </a:xfrm>
        <a:prstGeom prst="rect">
          <a:avLst/>
        </a:prstGeom>
        <a:blipFill rotWithShape="1">
          <a:blip r:embed="rId5"/>
          <a:stretch/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FAC0B46-2CE9-4BB5-947A-C0A03F83F3BF}">
      <dsp:nvSpPr>
        <dsp:cNvPr id="828019084" name=""/>
        <dsp:cNvSpPr/>
      </dsp:nvSpPr>
      <dsp:spPr bwMode="auto">
        <a:xfrm>
          <a:off x="1351519" y="2925867"/>
          <a:ext cx="3010173" cy="117014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3841" tIns="123841" rIns="123841" bIns="12384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/>
            <a:t>Additional environment variables and secrets can be further specified for best security practices</a:t>
          </a:r>
          <a:endParaRPr/>
        </a:p>
      </dsp:txBody>
      <dsp:txXfrm>
        <a:off x="1351519" y="2925867"/>
        <a:ext cx="3010173" cy="1170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h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choose name="Name3">
      <dgm:if name="Name4" axis="ch" ptType="node" func="cnt" arg="none" op="lte" val="3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5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5" axis="ch" ptType="node" func="cnt" arg="none" op="lte" val="4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2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6" axis="ch" ptType="node" func="cnt" arg="none" op="lte" val="6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9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6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ruleLst>
          <dgm:rule type="h" for="self" ptType="all" val="INF" fact="NaN" max="NaN"/>
        </dgm:ruleLst>
        <dgm:choose name="Name9">
          <dgm:if name="Name10" axis="ch" ptType="node" func="cnt" arg="none" op="gte" val="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w" for="ch" forName="parTx" ptType="all" refPtType="all" refType="w" refFor="self" op="none" fact="0.45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  <dgm:constr type="h" for="ch" forName="desTx" ptType="all" refPtType="all" refType="h" refFor="self" op="none" fact="1.000000" val="0"/>
              <dgm:constr type="l" for="ch" forName="desTx" ptType="all" refPtType="all" refType="r" refFor="ch" refForName="parTx" op="none" fact="1.000000" val="0"/>
              <dgm:constr type="t" for="ch" forName="desTx" ptType="all" refPtType="all" refType="none" refFor="self" op="none" fact="1.000000" val="0"/>
            </dgm:constrLst>
          </dgm:if>
          <dgm:else name="Name1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</dgm:constrLst>
          </dgm:else>
        </dgm:choose>
        <dgm:layoutNode name="bgRect" styleLbl="bgShp">
          <dgm:alg type="sp"/>
          <dgm:shape rot="0.000000" type="roundRect" r:blip="" blipPhldr="0" lkTxEntry="0" zOrderOff="0" hideGeom="0">
            <dgm:adjLst>
              <dgm:adj idx="1" val="0.100000"/>
            </dgm:adjLst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h" refFor="self" op="none" fact="0.300000" val="0"/>
            <dgm:constr type="rMarg" for="self" ptType="all" refPtType="all" refType="h" refFor="self" op="none" fact="0.300000" val="0"/>
            <dgm:constr type="tMarg" for="self" ptType="all" refPtType="all" refType="h" refFor="self" op="none" fact="0.300000" val="0"/>
            <dgm:constr type="bMarg" for="self" ptType="all" refPtType="all" refType="h" refFor="self" op="none" fact="0.3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choose name="Name12">
          <dgm:if name="Name13" axis="ch" ptType="node" func="cnt" arg="none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rot="0.000000" type="rect" r:blip="" blipPhldr="0" lkTxEntry="0" zOrderOff="0" hideGeom="0">
                <dgm:adjLst/>
              </dgm:shape>
              <dgm:presOf axis="des" ptType="node"/>
              <dgm:constrLst>
                <dgm:constr type="primFontSz" for="self" ptType="all" refPtType="all" refType="none" refFor="self" op="none" fact="1.000000" val="18"/>
                <dgm:constr type="secFontSz" for="self" ptType="all" refPtType="all" refType="primFontSz" refFor="self" op="none" fact="1.000000" val="0"/>
                <dgm:constr type="lMarg" for="self" ptType="all" refPtType="all" refType="h" refFor="self" op="none" fact="0.300000" val="0"/>
                <dgm:constr type="rMarg" for="self" ptType="all" refPtType="all" refType="h" refFor="self" op="none" fact="0.300000" val="0"/>
                <dgm:constr type="tMarg" for="self" ptType="all" refPtType="all" refType="h" refFor="self" op="none" fact="0.300000" val="0"/>
                <dgm:constr type="bMarg" for="self" ptType="all" refPtType="all" refType="h" refFor="self" op="none" fact="0.300000" val="0"/>
              </dgm:constrLst>
              <dgm:ruleLst>
                <dgm:rule type="primFontSz" for="self" ptType="all" val="11" fact="NaN" max="NaN"/>
              </dgm:ruleLst>
              <dgm:varLst/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1BF576-E65E-22DA-6B93-1B8D18A5AD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A91D59-B61C-9F1F-652A-8D00A550EB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460592-DBBF-412F-6483-967078A5BC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BD95D6-BC11-33DB-0F62-88E02E5C7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896E84-0DBF-DFCE-77B0-D607753AF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F2B4F6-45AF-BC8A-7BE6-EF8D044DED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154121-D005-7964-E5DD-6E34ABFD73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186BB9-D74A-4B8D-4D6B-6228BCAEAA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3A15D-0266-C1C0-03F2-F6B25BF545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43D96-8277-A719-80D6-768FB65C0C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234421" name="Title 1"/>
          <p:cNvSpPr>
            <a:spLocks noGrp="1"/>
          </p:cNvSpPr>
          <p:nvPr>
            <p:ph type="ctrTitle"/>
          </p:nvPr>
        </p:nvSpPr>
        <p:spPr bwMode="auto"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9290468" name="Subtitle 2"/>
          <p:cNvSpPr>
            <a:spLocks noGrp="1"/>
          </p:cNvSpPr>
          <p:nvPr>
            <p:ph type="subTitle" idx="1"/>
          </p:nvPr>
        </p:nvSpPr>
        <p:spPr bwMode="auto"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37872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28FA71-3A18-48C0-980F-4B68F7F63042}" type="datetime1">
              <a:rPr lang="en-US"/>
              <a:t>1/4/2026</a:t>
            </a:fld>
            <a:endParaRPr lang="en-US"/>
          </a:p>
        </p:txBody>
      </p:sp>
      <p:sp>
        <p:nvSpPr>
          <p:cNvPr id="953039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92211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703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472957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4796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C1210E-201E-4473-82AC-2466F5386C38}" type="datetime1">
              <a:rPr lang="en-US"/>
              <a:t>1/4/2026</a:t>
            </a:fld>
            <a:endParaRPr lang="en-US"/>
          </a:p>
        </p:txBody>
      </p:sp>
      <p:sp>
        <p:nvSpPr>
          <p:cNvPr id="1326639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68647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854104" name="Title 1"/>
          <p:cNvSpPr>
            <a:spLocks noGrp="1"/>
          </p:cNvSpPr>
          <p:nvPr>
            <p:ph type="title"/>
          </p:nvPr>
        </p:nvSpPr>
        <p:spPr bwMode="auto"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30620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3380" y="4589463"/>
            <a:ext cx="8273140" cy="1384616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12207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EA198-6CAB-4B8F-B93F-1F9C8C4B6CE7}" type="datetime1">
              <a:rPr lang="en-US"/>
              <a:t>1/4/2026</a:t>
            </a:fld>
            <a:endParaRPr lang="en-US"/>
          </a:p>
        </p:txBody>
      </p:sp>
      <p:sp>
        <p:nvSpPr>
          <p:cNvPr id="18764083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20347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691295" name="Title 1"/>
          <p:cNvSpPr>
            <a:spLocks noGrp="1"/>
          </p:cNvSpPr>
          <p:nvPr>
            <p:ph type="title"/>
          </p:nvPr>
        </p:nvSpPr>
        <p:spPr bwMode="auto">
          <a:xfrm>
            <a:off x="612648" y="548640"/>
            <a:ext cx="10741152" cy="113225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05332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12648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33341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55644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A06041F-4525-44D5-AA4F-332294BF1F56}" type="datetime1">
              <a:rPr lang="en-US"/>
              <a:t>1/4/2026</a:t>
            </a:fld>
            <a:endParaRPr lang="en-US"/>
          </a:p>
        </p:txBody>
      </p:sp>
      <p:sp>
        <p:nvSpPr>
          <p:cNvPr id="2239877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8436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22709" name="Title 1"/>
          <p:cNvSpPr>
            <a:spLocks noGrp="1"/>
          </p:cNvSpPr>
          <p:nvPr>
            <p:ph type="title"/>
          </p:nvPr>
        </p:nvSpPr>
        <p:spPr bwMode="auto">
          <a:xfrm>
            <a:off x="609600" y="547396"/>
            <a:ext cx="10745788" cy="114329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35969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823983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386894"/>
            <a:ext cx="5157787" cy="376508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905588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743587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199" y="2386894"/>
            <a:ext cx="5183189" cy="376508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8585638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9557091-BBDF-4EB9-BA6B-2BB67AC4FC0F}" type="datetime1">
              <a:rPr lang="en-US"/>
              <a:t>1/4/2026</a:t>
            </a:fld>
            <a:endParaRPr lang="en-US"/>
          </a:p>
        </p:txBody>
      </p:sp>
      <p:sp>
        <p:nvSpPr>
          <p:cNvPr id="36503111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250888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7592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225670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D6B226B-77A6-410C-9796-083F278E0125}" type="datetime1">
              <a:rPr lang="en-US"/>
              <a:t>1/4/2026</a:t>
            </a:fld>
            <a:endParaRPr lang="en-US"/>
          </a:p>
        </p:txBody>
      </p:sp>
      <p:sp>
        <p:nvSpPr>
          <p:cNvPr id="4237893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527181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12289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23A578B-D289-4C40-8593-3D356C49DA58}" type="datetime1">
              <a:rPr lang="en-US"/>
              <a:t>1/4/2026</a:t>
            </a:fld>
            <a:endParaRPr lang="en-US"/>
          </a:p>
        </p:txBody>
      </p:sp>
      <p:sp>
        <p:nvSpPr>
          <p:cNvPr id="148237653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19823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279620" name="Title 1"/>
          <p:cNvSpPr>
            <a:spLocks noGrp="1"/>
          </p:cNvSpPr>
          <p:nvPr>
            <p:ph type="title"/>
          </p:nvPr>
        </p:nvSpPr>
        <p:spPr bwMode="auto"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5899650" name="Content Placeholder 2"/>
          <p:cNvSpPr>
            <a:spLocks noGrp="1"/>
          </p:cNvSpPr>
          <p:nvPr>
            <p:ph idx="1"/>
          </p:nvPr>
        </p:nvSpPr>
        <p:spPr bwMode="auto"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80485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30912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13DFAE3-14DB-48A7-A80F-80DDB072CE3D}" type="datetime1">
              <a:rPr lang="en-US"/>
              <a:t>1/4/2026</a:t>
            </a:fld>
            <a:endParaRPr lang="en-US"/>
          </a:p>
        </p:txBody>
      </p:sp>
      <p:sp>
        <p:nvSpPr>
          <p:cNvPr id="2117810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61747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592124" name="Title 1"/>
          <p:cNvSpPr>
            <a:spLocks noGrp="1"/>
          </p:cNvSpPr>
          <p:nvPr>
            <p:ph type="title"/>
          </p:nvPr>
        </p:nvSpPr>
        <p:spPr bwMode="auto"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462100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9929237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1" y="2826137"/>
            <a:ext cx="3585586" cy="343463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192197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2C5EAEF-6478-4102-8F5D-A5FE9FC97ACB}" type="datetime1">
              <a:rPr lang="en-US"/>
              <a:t>1/4/2026</a:t>
            </a:fld>
            <a:endParaRPr lang="en-US"/>
          </a:p>
        </p:txBody>
      </p:sp>
      <p:sp>
        <p:nvSpPr>
          <p:cNvPr id="15334747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96240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570682" name="Title 1"/>
          <p:cNvSpPr>
            <a:spLocks noGrp="1"/>
          </p:cNvSpPr>
          <p:nvPr>
            <p:ph type="title"/>
          </p:nvPr>
        </p:nvSpPr>
        <p:spPr bwMode="auto">
          <a:xfrm>
            <a:off x="612648" y="548640"/>
            <a:ext cx="10515600" cy="113225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148637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12648" y="1680897"/>
            <a:ext cx="10515600" cy="449606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583950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104EDB3-C0E8-45F8-9E1D-1B6C8D1880C0}" type="datetime1">
              <a:rPr lang="en-US"/>
              <a:t>1/4/2026</a:t>
            </a:fld>
            <a:endParaRPr lang="en-US"/>
          </a:p>
        </p:txBody>
      </p:sp>
      <p:sp>
        <p:nvSpPr>
          <p:cNvPr id="1030910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81840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4676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634888" y="578497"/>
            <a:ext cx="2047037" cy="5598466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371821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578497"/>
            <a:ext cx="8796688" cy="559846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23012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F0EC4B-54ED-4041-B552-9BA760FA3DBA}" type="datetime1">
              <a:rPr lang="en-US"/>
              <a:t>1/4/2026</a:t>
            </a:fld>
            <a:endParaRPr lang="en-US"/>
          </a:p>
        </p:txBody>
      </p:sp>
      <p:sp>
        <p:nvSpPr>
          <p:cNvPr id="7942846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65457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14759" name="Title Placeholder 1"/>
          <p:cNvSpPr>
            <a:spLocks noGrp="1"/>
          </p:cNvSpPr>
          <p:nvPr>
            <p:ph type="title"/>
          </p:nvPr>
        </p:nvSpPr>
        <p:spPr bwMode="auto">
          <a:xfrm>
            <a:off x="612648" y="548640"/>
            <a:ext cx="10653577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152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680701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7F45AC6-C491-4585-A584-9CE2AF7D5500}" type="datetime1">
              <a:rPr lang="en-US"/>
              <a:t>1/4/2026</a:t>
            </a:fld>
            <a:endParaRPr lang="en-US"/>
          </a:p>
        </p:txBody>
      </p:sp>
      <p:sp>
        <p:nvSpPr>
          <p:cNvPr id="1250755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484627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C057153-B650-4DEB-B370-79DDCFDCE93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914400" rtl="0">
        <a:lnSpc>
          <a:spcPct val="90000"/>
        </a:lnSpc>
        <a:spcBef>
          <a:spcPts val="0"/>
        </a:spcBef>
        <a:buNone/>
        <a:defRPr sz="36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20000"/>
        </a:lnSpc>
        <a:spcBef>
          <a:spcPts val="1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>
        <a:lnSpc>
          <a:spcPct val="12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>
        <a:lnSpc>
          <a:spcPct val="12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>
        <a:lnSpc>
          <a:spcPct val="12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Relationship Id="rId8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958423480" name="Rectangle 1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24804291" name="Picture 4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l="0" t="8180" r="0" b="1457"/>
          <a:stretch/>
        </p:blipFill>
        <p:spPr bwMode="auto"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1396922968" name="Title 1"/>
          <p:cNvSpPr>
            <a:spLocks noGrp="1"/>
          </p:cNvSpPr>
          <p:nvPr>
            <p:ph type="ctrTitle"/>
          </p:nvPr>
        </p:nvSpPr>
        <p:spPr bwMode="auto"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5000">
                <a:solidFill>
                  <a:srgbClr val="FFFFFF"/>
                </a:solidFill>
                <a:ea typeface="+mj-lt"/>
                <a:cs typeface="+mj-lt"/>
              </a:rPr>
              <a:t>Web-Based Data Dashboard &amp; API Integration</a:t>
            </a:r>
            <a:endParaRPr lang="en-US" sz="5000">
              <a:solidFill>
                <a:srgbClr val="FFFFFF"/>
              </a:solidFill>
            </a:endParaRPr>
          </a:p>
        </p:txBody>
      </p:sp>
      <p:sp>
        <p:nvSpPr>
          <p:cNvPr id="636490675" name="Subtitle 2"/>
          <p:cNvSpPr>
            <a:spLocks noGrp="1"/>
          </p:cNvSpPr>
          <p:nvPr>
            <p:ph type="subTitle" idx="1"/>
          </p:nvPr>
        </p:nvSpPr>
        <p:spPr bwMode="auto">
          <a:xfrm>
            <a:off x="2301923" y="3793937"/>
            <a:ext cx="7588155" cy="141409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A centralized interface for visualizing sales, server performance, user demographics, and real-time currency exchange rates</a:t>
            </a:r>
            <a:endParaRPr/>
          </a:p>
        </p:txBody>
      </p:sp>
      <p:sp>
        <p:nvSpPr>
          <p:cNvPr id="261100017" name="TextBox 3"/>
          <p:cNvSpPr txBox="1"/>
          <p:nvPr/>
        </p:nvSpPr>
        <p:spPr bwMode="auto">
          <a:xfrm>
            <a:off x="3240310" y="5769600"/>
            <a:ext cx="571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/>
              <a:t>Umarjon</a:t>
            </a:r>
            <a:r>
              <a:rPr lang="en-US"/>
              <a:t> </a:t>
            </a:r>
            <a:r>
              <a:rPr lang="en-US"/>
              <a:t>Mansurjonov</a:t>
            </a:r>
            <a:r>
              <a:rPr lang="en-US"/>
              <a:t> 68921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848511064" name="Rectangle 2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60056115" name="Title 1"/>
          <p:cNvSpPr>
            <a:spLocks noGrp="1"/>
          </p:cNvSpPr>
          <p:nvPr>
            <p:ph type="title"/>
          </p:nvPr>
        </p:nvSpPr>
        <p:spPr bwMode="auto">
          <a:xfrm>
            <a:off x="614678" y="548640"/>
            <a:ext cx="10872215" cy="1133856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en-US"/>
              <a:t>Objectives </a:t>
            </a:r>
            <a:endParaRPr/>
          </a:p>
        </p:txBody>
      </p:sp>
      <p:pic>
        <p:nvPicPr>
          <p:cNvPr id="2074846452" name="Picture 5" descr="A screenshot of a computer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1520" y="1792223"/>
            <a:ext cx="3177868" cy="4539813"/>
          </a:xfrm>
          <a:prstGeom prst="rect">
            <a:avLst/>
          </a:prstGeom>
        </p:spPr>
      </p:pic>
      <p:sp>
        <p:nvSpPr>
          <p:cNvPr id="1528366464" name="Content Placeholder 2"/>
          <p:cNvSpPr>
            <a:spLocks noGrp="1"/>
          </p:cNvSpPr>
          <p:nvPr>
            <p:ph idx="1"/>
          </p:nvPr>
        </p:nvSpPr>
        <p:spPr bwMode="auto">
          <a:xfrm>
            <a:off x="4882551" y="1792224"/>
            <a:ext cx="6602154" cy="4517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>
                <a:ea typeface="+mn-lt"/>
                <a:cs typeface="+mn-lt"/>
              </a:rPr>
              <a:t>Goal: Develop application to retrieve, process, and visualize data from internal and external sources</a:t>
            </a:r>
            <a:endParaRPr/>
          </a:p>
          <a:p>
            <a:pPr marL="0" indent="0">
              <a:buNone/>
              <a:defRPr/>
            </a:pPr>
            <a:r>
              <a:rPr lang="en-US" sz="1800">
                <a:ea typeface="+mn-lt"/>
                <a:cs typeface="+mn-lt"/>
              </a:rPr>
              <a:t>Key Features:</a:t>
            </a:r>
            <a:endParaRPr lang="en-US" sz="1800"/>
          </a:p>
          <a:p>
            <a:pPr marL="171450" indent="-171450">
              <a:defRPr/>
            </a:pPr>
            <a:r>
              <a:rPr lang="en-US" sz="1800">
                <a:ea typeface="+mn-lt"/>
                <a:cs typeface="+mn-lt"/>
              </a:rPr>
              <a:t>Data Visualization: Four distinct interactive charts (Sales, Browser Share, Server Load, Device Usage)</a:t>
            </a:r>
            <a:endParaRPr lang="en-US" sz="1800"/>
          </a:p>
          <a:p>
            <a:pPr>
              <a:defRPr/>
            </a:pPr>
            <a:r>
              <a:rPr lang="en-US" sz="1800">
                <a:ea typeface="+mn-lt"/>
                <a:cs typeface="+mn-lt"/>
              </a:rPr>
              <a:t>External Integration: Real-time fetching of USD and CHF exchange rates against PLN</a:t>
            </a:r>
            <a:endParaRPr lang="en-US" sz="1800"/>
          </a:p>
          <a:p>
            <a:pPr>
              <a:defRPr/>
            </a:pPr>
            <a:r>
              <a:rPr lang="en-US" sz="1800">
                <a:ea typeface="+mn-lt"/>
                <a:cs typeface="+mn-lt"/>
              </a:rPr>
              <a:t>Architecture: Separation of concerns using a REST-style API layer for internal data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819314269" name="Rectangle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80913885" name="Title 1"/>
          <p:cNvSpPr>
            <a:spLocks noGrp="1"/>
          </p:cNvSpPr>
          <p:nvPr>
            <p:ph type="title"/>
          </p:nvPr>
        </p:nvSpPr>
        <p:spPr bwMode="auto"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Technology Stack</a:t>
            </a:r>
            <a:endParaRPr/>
          </a:p>
        </p:txBody>
      </p:sp>
      <p:sp>
        <p:nvSpPr>
          <p:cNvPr id="1774859095" name="Content Placeholder 2"/>
          <p:cNvSpPr>
            <a:spLocks noGrp="1"/>
          </p:cNvSpPr>
          <p:nvPr>
            <p:ph idx="1"/>
          </p:nvPr>
        </p:nvSpPr>
        <p:spPr bwMode="auto">
          <a:xfrm>
            <a:off x="612647" y="2212848"/>
            <a:ext cx="4361687" cy="40965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defRPr/>
            </a:pPr>
            <a:r>
              <a:rPr lang="en-US" sz="1800">
                <a:ea typeface="+mn-lt"/>
                <a:cs typeface="+mn-lt"/>
              </a:rPr>
              <a:t>Backend: PHP 8.1 running on Apache server</a:t>
            </a:r>
            <a:endParaRPr lang="en-US" sz="1800"/>
          </a:p>
          <a:p>
            <a:pPr>
              <a:defRPr/>
            </a:pPr>
            <a:r>
              <a:rPr lang="en-US" sz="1800">
                <a:ea typeface="+mn-lt"/>
                <a:cs typeface="+mn-lt"/>
              </a:rPr>
              <a:t>Database: MySQL hosted on AwardSpace (Remote connection)</a:t>
            </a:r>
            <a:endParaRPr lang="en-US" sz="1800"/>
          </a:p>
          <a:p>
            <a:pPr>
              <a:defRPr/>
            </a:pPr>
            <a:r>
              <a:rPr lang="en-US" sz="1800">
                <a:ea typeface="+mn-lt"/>
                <a:cs typeface="+mn-lt"/>
              </a:rPr>
              <a:t>Frontend: HTML5, Bootstrap 5.3.3 for responsive layout</a:t>
            </a:r>
            <a:endParaRPr lang="en-US" sz="1800"/>
          </a:p>
          <a:p>
            <a:pPr>
              <a:defRPr/>
            </a:pPr>
            <a:r>
              <a:rPr lang="en-US" sz="1800">
                <a:ea typeface="+mn-lt"/>
                <a:cs typeface="+mn-lt"/>
              </a:rPr>
              <a:t>Visualization: Plotly.js for rendering dynamic charts</a:t>
            </a:r>
            <a:endParaRPr lang="en-US" sz="1800"/>
          </a:p>
          <a:p>
            <a:pPr>
              <a:defRPr/>
            </a:pPr>
            <a:r>
              <a:rPr lang="en-US" sz="1800">
                <a:ea typeface="+mn-lt"/>
                <a:cs typeface="+mn-lt"/>
              </a:rPr>
              <a:t>Containerization: Docker for environment consistency</a:t>
            </a:r>
            <a:endParaRPr lang="en-US" sz="1800"/>
          </a:p>
        </p:txBody>
      </p:sp>
      <p:pic>
        <p:nvPicPr>
          <p:cNvPr id="1852704255" name="Picture 4" descr="A network of lines and dots&#10;&#10;AI-generated content may be incorrect."/>
          <p:cNvPicPr>
            <a:picLocks noChangeAspect="1"/>
          </p:cNvPicPr>
          <p:nvPr/>
        </p:nvPicPr>
        <p:blipFill rotWithShape="1">
          <a:blip r:embed="rId3"/>
          <a:srcRect l="21075" t="0" r="21073" b="-1"/>
          <a:stretch/>
        </p:blipFill>
        <p:spPr bwMode="auto">
          <a:xfrm>
            <a:off x="5818632" y="-1"/>
            <a:ext cx="6373368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414000921" name="Rectangle 1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6675339" name="Title 1"/>
          <p:cNvSpPr>
            <a:spLocks noGrp="1"/>
          </p:cNvSpPr>
          <p:nvPr>
            <p:ph type="title"/>
          </p:nvPr>
        </p:nvSpPr>
        <p:spPr bwMode="auto"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Database Design</a:t>
            </a:r>
            <a:endParaRPr/>
          </a:p>
        </p:txBody>
      </p:sp>
      <p:sp>
        <p:nvSpPr>
          <p:cNvPr id="1594489903" name="Content Placeholder 2"/>
          <p:cNvSpPr>
            <a:spLocks noGrp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500">
                <a:ea typeface="+mn-lt"/>
                <a:cs typeface="+mn-lt"/>
              </a:rPr>
              <a:t>The solution utilizes a relational database with four primary tables:</a:t>
            </a:r>
            <a:endParaRPr lang="en-US" sz="1500"/>
          </a:p>
          <a:p>
            <a:pPr>
              <a:lnSpc>
                <a:spcPct val="110000"/>
              </a:lnSpc>
              <a:defRPr/>
            </a:pPr>
            <a:r>
              <a:rPr lang="en-US" sz="1500" b="1" i="1">
                <a:ea typeface="+mn-lt"/>
                <a:cs typeface="+mn-lt"/>
              </a:rPr>
              <a:t>sales</a:t>
            </a:r>
            <a:r>
              <a:rPr lang="en-US" sz="1500">
                <a:ea typeface="+mn-lt"/>
                <a:cs typeface="+mn-lt"/>
              </a:rPr>
              <a:t>: Stores monthly financial performance</a:t>
            </a:r>
            <a:endParaRPr lang="en-US" sz="1500"/>
          </a:p>
          <a:p>
            <a:pPr>
              <a:lnSpc>
                <a:spcPct val="110000"/>
              </a:lnSpc>
              <a:defRPr/>
            </a:pPr>
            <a:r>
              <a:rPr lang="en-US" sz="1500" b="1" i="1">
                <a:ea typeface="+mn-lt"/>
                <a:cs typeface="+mn-lt"/>
              </a:rPr>
              <a:t>browsers</a:t>
            </a:r>
            <a:r>
              <a:rPr lang="en-US" sz="1500">
                <a:ea typeface="+mn-lt"/>
                <a:cs typeface="+mn-lt"/>
              </a:rPr>
              <a:t>: Tracks market share percentages of web browsers</a:t>
            </a:r>
            <a:endParaRPr lang="en-US" sz="1500"/>
          </a:p>
          <a:p>
            <a:pPr>
              <a:lnSpc>
                <a:spcPct val="110000"/>
              </a:lnSpc>
              <a:defRPr/>
            </a:pPr>
            <a:r>
              <a:rPr lang="en-US" sz="1500" b="1" i="1">
                <a:ea typeface="+mn-lt"/>
                <a:cs typeface="+mn-lt"/>
              </a:rPr>
              <a:t>server</a:t>
            </a:r>
            <a:r>
              <a:rPr lang="en-US" sz="1500" b="1">
                <a:ea typeface="+mn-lt"/>
                <a:cs typeface="+mn-lt"/>
              </a:rPr>
              <a:t>_performance</a:t>
            </a:r>
            <a:r>
              <a:rPr lang="en-US" sz="1500">
                <a:ea typeface="+mn-lt"/>
                <a:cs typeface="+mn-lt"/>
              </a:rPr>
              <a:t>: Monitors CPU load across different servers</a:t>
            </a:r>
            <a:endParaRPr lang="en-US" sz="1500"/>
          </a:p>
          <a:p>
            <a:pPr>
              <a:lnSpc>
                <a:spcPct val="110000"/>
              </a:lnSpc>
              <a:defRPr/>
            </a:pPr>
            <a:r>
              <a:rPr lang="en-US" sz="1500" b="1" i="1">
                <a:ea typeface="+mn-lt"/>
                <a:cs typeface="+mn-lt"/>
              </a:rPr>
              <a:t>devices</a:t>
            </a:r>
            <a:r>
              <a:rPr lang="en-US" sz="1500">
                <a:ea typeface="+mn-lt"/>
                <a:cs typeface="+mn-lt"/>
              </a:rPr>
              <a:t>: Categorizes user access by device type (Desktop, Mobile, Tablet)</a:t>
            </a:r>
            <a:endParaRPr lang="en-US" sz="1500"/>
          </a:p>
        </p:txBody>
      </p:sp>
      <p:pic>
        <p:nvPicPr>
          <p:cNvPr id="528142981" name="Picture 3" descr="A screenshot of a computer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95121" y="1114923"/>
            <a:ext cx="5430060" cy="4628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88935584" name="Rectangle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3278997" name="Title 1"/>
          <p:cNvSpPr>
            <a:spLocks noGrp="1"/>
          </p:cNvSpPr>
          <p:nvPr>
            <p:ph type="title"/>
          </p:nvPr>
        </p:nvSpPr>
        <p:spPr bwMode="auto"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API Implementation</a:t>
            </a:r>
            <a:endParaRPr/>
          </a:p>
        </p:txBody>
      </p:sp>
      <p:sp>
        <p:nvSpPr>
          <p:cNvPr id="1806922512" name="Content Placeholder 2"/>
          <p:cNvSpPr>
            <a:spLocks noGrp="1"/>
          </p:cNvSpPr>
          <p:nvPr>
            <p:ph idx="1"/>
          </p:nvPr>
        </p:nvSpPr>
        <p:spPr bwMode="auto">
          <a:xfrm>
            <a:off x="612648" y="2212848"/>
            <a:ext cx="11019514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The application exposes data through specific PHP endpoints acting as a REST API</a:t>
            </a:r>
            <a:endParaRPr/>
          </a:p>
          <a:p>
            <a:pPr marL="342900" indent="-342900">
              <a:defRPr/>
            </a:pPr>
            <a:r>
              <a:rPr lang="en-US" b="1">
                <a:ea typeface="+mn-lt"/>
                <a:cs typeface="+mn-lt"/>
              </a:rPr>
              <a:t>api_</a:t>
            </a:r>
            <a:r>
              <a:rPr lang="en-US" b="1" i="1">
                <a:ea typeface="+mn-lt"/>
                <a:cs typeface="+mn-lt"/>
              </a:rPr>
              <a:t>sales</a:t>
            </a:r>
            <a:r>
              <a:rPr lang="en-US" b="1">
                <a:ea typeface="+mn-lt"/>
                <a:cs typeface="+mn-lt"/>
              </a:rPr>
              <a:t>.</a:t>
            </a:r>
            <a:r>
              <a:rPr lang="en-US" b="1" i="1">
                <a:ea typeface="+mn-lt"/>
                <a:cs typeface="+mn-lt"/>
              </a:rPr>
              <a:t>php</a:t>
            </a:r>
            <a:r>
              <a:rPr lang="en-US">
                <a:ea typeface="+mn-lt"/>
                <a:cs typeface="+mn-lt"/>
              </a:rPr>
              <a:t>: Returns JSON formatted sales data</a:t>
            </a:r>
            <a:endParaRPr/>
          </a:p>
          <a:p>
            <a:pPr>
              <a:defRPr/>
            </a:pPr>
            <a:r>
              <a:rPr lang="en-US" b="1">
                <a:ea typeface="+mn-lt"/>
                <a:cs typeface="+mn-lt"/>
              </a:rPr>
              <a:t>  </a:t>
            </a:r>
            <a:r>
              <a:rPr lang="en-US" b="1">
                <a:ea typeface="+mn-lt"/>
                <a:cs typeface="+mn-lt"/>
              </a:rPr>
              <a:t>api_</a:t>
            </a:r>
            <a:r>
              <a:rPr lang="en-US" b="1" i="1">
                <a:ea typeface="+mn-lt"/>
                <a:cs typeface="+mn-lt"/>
              </a:rPr>
              <a:t>users</a:t>
            </a:r>
            <a:r>
              <a:rPr lang="en-US" b="1">
                <a:ea typeface="+mn-lt"/>
                <a:cs typeface="+mn-lt"/>
              </a:rPr>
              <a:t>.</a:t>
            </a:r>
            <a:r>
              <a:rPr lang="en-US" b="1" i="1">
                <a:ea typeface="+mn-lt"/>
                <a:cs typeface="+mn-lt"/>
              </a:rPr>
              <a:t>php</a:t>
            </a:r>
            <a:r>
              <a:rPr lang="en-US">
                <a:ea typeface="+mn-lt"/>
                <a:cs typeface="+mn-lt"/>
              </a:rPr>
              <a:t>: Returns browser statistics</a:t>
            </a:r>
            <a:endParaRPr lang="en-US"/>
          </a:p>
          <a:p>
            <a:pPr>
              <a:defRPr/>
            </a:pPr>
            <a:r>
              <a:rPr lang="en-US" b="1">
                <a:ea typeface="+mn-lt"/>
                <a:cs typeface="+mn-lt"/>
              </a:rPr>
              <a:t>  </a:t>
            </a:r>
            <a:r>
              <a:rPr lang="en-US" b="1">
                <a:ea typeface="+mn-lt"/>
                <a:cs typeface="+mn-lt"/>
              </a:rPr>
              <a:t>api_</a:t>
            </a:r>
            <a:r>
              <a:rPr lang="en-US" b="1" i="1">
                <a:ea typeface="+mn-lt"/>
                <a:cs typeface="+mn-lt"/>
              </a:rPr>
              <a:t>performance</a:t>
            </a:r>
            <a:r>
              <a:rPr lang="en-US" b="1">
                <a:ea typeface="+mn-lt"/>
                <a:cs typeface="+mn-lt"/>
              </a:rPr>
              <a:t>.</a:t>
            </a:r>
            <a:r>
              <a:rPr lang="en-US" b="1" i="1">
                <a:ea typeface="+mn-lt"/>
                <a:cs typeface="+mn-lt"/>
              </a:rPr>
              <a:t>php</a:t>
            </a:r>
            <a:r>
              <a:rPr lang="en-US">
                <a:ea typeface="+mn-lt"/>
                <a:cs typeface="+mn-lt"/>
              </a:rPr>
              <a:t>: Returns server load metrics</a:t>
            </a:r>
            <a:endParaRPr lang="en-US"/>
          </a:p>
          <a:p>
            <a:pPr>
              <a:defRPr/>
            </a:pPr>
            <a:r>
              <a:rPr lang="en-US" b="1">
                <a:ea typeface="+mn-lt"/>
                <a:cs typeface="+mn-lt"/>
              </a:rPr>
              <a:t>  </a:t>
            </a:r>
            <a:r>
              <a:rPr lang="en-US" b="1">
                <a:ea typeface="+mn-lt"/>
                <a:cs typeface="+mn-lt"/>
              </a:rPr>
              <a:t>api_</a:t>
            </a:r>
            <a:r>
              <a:rPr lang="en-US" b="1" i="1">
                <a:ea typeface="+mn-lt"/>
                <a:cs typeface="+mn-lt"/>
              </a:rPr>
              <a:t>devices</a:t>
            </a:r>
            <a:r>
              <a:rPr lang="en-US" b="1">
                <a:ea typeface="+mn-lt"/>
                <a:cs typeface="+mn-lt"/>
              </a:rPr>
              <a:t>.</a:t>
            </a:r>
            <a:r>
              <a:rPr lang="en-US" b="1" i="1">
                <a:ea typeface="+mn-lt"/>
                <a:cs typeface="+mn-lt"/>
              </a:rPr>
              <a:t>php</a:t>
            </a:r>
            <a:r>
              <a:rPr lang="en-US">
                <a:ea typeface="+mn-lt"/>
                <a:cs typeface="+mn-lt"/>
              </a:rPr>
              <a:t>: Returns device usage statistics</a:t>
            </a:r>
            <a:endParaRPr lang="en-US"/>
          </a:p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 Each script executes a SQL query, fetches results into an array, and outputs a JSON object containing </a:t>
            </a:r>
            <a:r>
              <a:rPr lang="en-US" b="1">
                <a:ea typeface="+mn-lt"/>
                <a:cs typeface="+mn-lt"/>
              </a:rPr>
              <a:t>labels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>
                <a:ea typeface="+mn-lt"/>
                <a:cs typeface="+mn-lt"/>
              </a:rPr>
              <a:t>values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202881489" name="Rectangle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0377236" name="Title 1"/>
          <p:cNvSpPr>
            <a:spLocks noGrp="1"/>
          </p:cNvSpPr>
          <p:nvPr>
            <p:ph type="title"/>
          </p:nvPr>
        </p:nvSpPr>
        <p:spPr bwMode="auto"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External API Integration</a:t>
            </a:r>
            <a:endParaRPr/>
          </a:p>
        </p:txBody>
      </p:sp>
      <p:sp>
        <p:nvSpPr>
          <p:cNvPr id="1098586295" name="Content Placeholder 2"/>
          <p:cNvSpPr>
            <a:spLocks noGrp="1"/>
          </p:cNvSpPr>
          <p:nvPr>
            <p:ph idx="1"/>
          </p:nvPr>
        </p:nvSpPr>
        <p:spPr bwMode="auto">
          <a:xfrm>
            <a:off x="612648" y="2212848"/>
            <a:ext cx="11019514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Source - National Bank of Poland (NBP) API</a:t>
            </a:r>
            <a:endParaRPr lang="en-US"/>
          </a:p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The system uses PHP </a:t>
            </a:r>
            <a:r>
              <a:rPr lang="en-US">
                <a:ea typeface="+mn-lt"/>
                <a:cs typeface="+mn-lt"/>
              </a:rPr>
              <a:t>cURL</a:t>
            </a:r>
            <a:r>
              <a:rPr lang="en-US">
                <a:ea typeface="+mn-lt"/>
                <a:cs typeface="+mn-lt"/>
              </a:rPr>
              <a:t> to fetch the last 20 exchange rates for USD and CHF</a:t>
            </a:r>
            <a:endParaRPr lang="en-US"/>
          </a:p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Data Processing:</a:t>
            </a:r>
            <a:endParaRPr lang="en-US"/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The </a:t>
            </a:r>
            <a:r>
              <a:rPr lang="en-US" b="1" i="1">
                <a:ea typeface="+mn-lt"/>
                <a:cs typeface="+mn-lt"/>
              </a:rPr>
              <a:t>fetchData</a:t>
            </a:r>
            <a:r>
              <a:rPr lang="en-US" b="1" i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function handles the HTTP request and JSON decoding</a:t>
            </a:r>
            <a:endParaRPr lang="en-US"/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Data is parsed to extract </a:t>
            </a:r>
            <a:r>
              <a:rPr lang="en-US" b="1" i="1">
                <a:ea typeface="+mn-lt"/>
                <a:cs typeface="+mn-lt"/>
              </a:rPr>
              <a:t>effectiveDate</a:t>
            </a:r>
            <a:r>
              <a:rPr lang="en-US" b="1" i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 i="1">
                <a:ea typeface="+mn-lt"/>
                <a:cs typeface="+mn-lt"/>
              </a:rPr>
              <a:t>mid </a:t>
            </a:r>
            <a:r>
              <a:rPr lang="en-US">
                <a:ea typeface="+mn-lt"/>
                <a:cs typeface="+mn-lt"/>
              </a:rPr>
              <a:t>(average rate)</a:t>
            </a:r>
            <a:endParaRPr lang="en-US"/>
          </a:p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Weak Point: The code assumes that the dates for USD and CHF align perfectly without explicit validation or error handling if one dataset is missing dates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957062904" name="Rectangle 1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36115945" name="Title 1"/>
          <p:cNvSpPr>
            <a:spLocks noGrp="1"/>
          </p:cNvSpPr>
          <p:nvPr>
            <p:ph type="title"/>
          </p:nvPr>
        </p:nvSpPr>
        <p:spPr bwMode="auto">
          <a:xfrm>
            <a:off x="5906802" y="603504"/>
            <a:ext cx="5577902" cy="152704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Frontend</a:t>
            </a:r>
            <a:endParaRPr/>
          </a:p>
        </p:txBody>
      </p:sp>
      <p:pic>
        <p:nvPicPr>
          <p:cNvPr id="1721794465" name="Picture 3" descr="A screenshot of a graph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648" y="1471109"/>
            <a:ext cx="4681506" cy="3944168"/>
          </a:xfrm>
          <a:prstGeom prst="rect">
            <a:avLst/>
          </a:prstGeom>
        </p:spPr>
      </p:pic>
      <p:sp>
        <p:nvSpPr>
          <p:cNvPr id="1581666560" name="Content Placeholder 2"/>
          <p:cNvSpPr>
            <a:spLocks noGrp="1"/>
          </p:cNvSpPr>
          <p:nvPr>
            <p:ph idx="1"/>
          </p:nvPr>
        </p:nvSpPr>
        <p:spPr bwMode="auto">
          <a:xfrm>
            <a:off x="5906802" y="2212848"/>
            <a:ext cx="5577902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700">
                <a:ea typeface="+mn-lt"/>
                <a:cs typeface="+mn-lt"/>
              </a:rPr>
              <a:t>A responsive grid system using Bootstrap to display charts side-by-side</a:t>
            </a:r>
            <a:endParaRPr lang="en-US" sz="1700"/>
          </a:p>
          <a:p>
            <a:pPr>
              <a:lnSpc>
                <a:spcPct val="110000"/>
              </a:lnSpc>
              <a:defRPr/>
            </a:pPr>
            <a:r>
              <a:rPr lang="en-US" sz="1700" b="1">
                <a:ea typeface="+mn-lt"/>
                <a:cs typeface="+mn-lt"/>
              </a:rPr>
              <a:t>Currency</a:t>
            </a:r>
            <a:r>
              <a:rPr lang="en-US" sz="1700">
                <a:ea typeface="+mn-lt"/>
                <a:cs typeface="+mn-lt"/>
              </a:rPr>
              <a:t>: Line chart (scatter type) comparing USD and CHF trends</a:t>
            </a:r>
            <a:endParaRPr lang="en-US" sz="1700"/>
          </a:p>
          <a:p>
            <a:pPr>
              <a:lnSpc>
                <a:spcPct val="110000"/>
              </a:lnSpc>
              <a:defRPr/>
            </a:pPr>
            <a:r>
              <a:rPr lang="en-US" sz="1700" b="1">
                <a:ea typeface="+mn-lt"/>
                <a:cs typeface="+mn-lt"/>
              </a:rPr>
              <a:t>Sales</a:t>
            </a:r>
            <a:r>
              <a:rPr lang="en-US" sz="1700">
                <a:ea typeface="+mn-lt"/>
                <a:cs typeface="+mn-lt"/>
              </a:rPr>
              <a:t>: Bar chart showing monthly revenue</a:t>
            </a:r>
            <a:endParaRPr lang="en-US" sz="1700"/>
          </a:p>
          <a:p>
            <a:pPr>
              <a:lnSpc>
                <a:spcPct val="110000"/>
              </a:lnSpc>
              <a:defRPr/>
            </a:pPr>
            <a:r>
              <a:rPr lang="en-US" sz="1700" b="1">
                <a:ea typeface="+mn-lt"/>
                <a:cs typeface="+mn-lt"/>
              </a:rPr>
              <a:t>User</a:t>
            </a:r>
            <a:r>
              <a:rPr lang="en-US" sz="1700">
                <a:ea typeface="+mn-lt"/>
                <a:cs typeface="+mn-lt"/>
              </a:rPr>
              <a:t>/</a:t>
            </a:r>
            <a:r>
              <a:rPr lang="en-US" sz="1700" b="1">
                <a:ea typeface="+mn-lt"/>
                <a:cs typeface="+mn-lt"/>
              </a:rPr>
              <a:t>Device</a:t>
            </a:r>
            <a:r>
              <a:rPr lang="en-US" sz="1700">
                <a:ea typeface="+mn-lt"/>
                <a:cs typeface="+mn-lt"/>
              </a:rPr>
              <a:t>: Pie charts showing distribution percentages</a:t>
            </a:r>
            <a:endParaRPr lang="en-US" sz="1700"/>
          </a:p>
          <a:p>
            <a:pPr>
              <a:lnSpc>
                <a:spcPct val="110000"/>
              </a:lnSpc>
              <a:defRPr/>
            </a:pPr>
            <a:r>
              <a:rPr lang="en-US" sz="1700" b="1">
                <a:ea typeface="+mn-lt"/>
                <a:cs typeface="+mn-lt"/>
              </a:rPr>
              <a:t>Server</a:t>
            </a:r>
            <a:r>
              <a:rPr lang="en-US" sz="1700">
                <a:ea typeface="+mn-lt"/>
                <a:cs typeface="+mn-lt"/>
              </a:rPr>
              <a:t>: Bar chart indicating CPU load per server</a:t>
            </a:r>
            <a:endParaRPr lang="en-US" sz="1700"/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1700">
                <a:ea typeface="+mn-lt"/>
                <a:cs typeface="+mn-lt"/>
              </a:rPr>
              <a:t>PHP injects the fetched JSON data directly into the JavaScript variables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881835136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94754513" name="Title 1"/>
          <p:cNvSpPr>
            <a:spLocks noGrp="1"/>
          </p:cNvSpPr>
          <p:nvPr>
            <p:ph type="title"/>
          </p:nvPr>
        </p:nvSpPr>
        <p:spPr bwMode="auto"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Deployment</a:t>
            </a:r>
            <a:endParaRPr/>
          </a:p>
        </p:txBody>
      </p:sp>
      <p:graphicFrame>
        <p:nvGraphicFramePr>
          <p:cNvPr id="664213386" name="Content Placehold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7123007" y="2212846"/>
          <a:ext cx="4361693" cy="4096514"/>
          <a:chOff x="0" y="0"/>
          <a:chExt cx="4361693" cy="4096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pic>
        <p:nvPicPr>
          <p:cNvPr id="1431652537" name="Picture 3" descr="A black screen with orange text&#10;&#10;AI-generated content may be incorrect.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41060" y="2962275"/>
            <a:ext cx="5457825" cy="933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54685042" name="Rectangle 1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790921" name="Title 1"/>
          <p:cNvSpPr>
            <a:spLocks noGrp="1"/>
          </p:cNvSpPr>
          <p:nvPr>
            <p:ph type="title"/>
          </p:nvPr>
        </p:nvSpPr>
        <p:spPr bwMode="auto"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Testing</a:t>
            </a:r>
            <a:endParaRPr/>
          </a:p>
        </p:txBody>
      </p:sp>
      <p:sp>
        <p:nvSpPr>
          <p:cNvPr id="2125375288" name="Content Placeholder 2"/>
          <p:cNvSpPr>
            <a:spLocks noGrp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500">
                <a:ea typeface="+mn-lt"/>
                <a:cs typeface="+mn-lt"/>
              </a:rPr>
              <a:t>Manual verification of data integrity via </a:t>
            </a:r>
            <a:r>
              <a:rPr lang="en-US" sz="1500" b="1" i="1">
                <a:ea typeface="+mn-lt"/>
                <a:cs typeface="+mn-lt"/>
              </a:rPr>
              <a:t>test.php</a:t>
            </a:r>
            <a:endParaRPr lang="en-US" sz="1500" b="1" i="1"/>
          </a:p>
          <a:p>
            <a:pPr>
              <a:lnSpc>
                <a:spcPct val="110000"/>
              </a:lnSpc>
              <a:defRPr/>
            </a:pPr>
            <a:r>
              <a:rPr lang="en-US" sz="1500">
                <a:ea typeface="+mn-lt"/>
                <a:cs typeface="+mn-lt"/>
              </a:rPr>
              <a:t>The test script re-fetches data from all internal APIs</a:t>
            </a:r>
            <a:endParaRPr lang="en-US" sz="1500"/>
          </a:p>
          <a:p>
            <a:pPr>
              <a:lnSpc>
                <a:spcPct val="110000"/>
              </a:lnSpc>
              <a:defRPr/>
            </a:pPr>
            <a:r>
              <a:rPr lang="en-US" sz="1500" b="1" i="1">
                <a:ea typeface="+mn-lt"/>
                <a:cs typeface="+mn-lt"/>
              </a:rPr>
              <a:t>displayDataAsTable</a:t>
            </a:r>
            <a:r>
              <a:rPr lang="en-US" sz="1500">
                <a:ea typeface="+mn-lt"/>
                <a:cs typeface="+mn-lt"/>
              </a:rPr>
              <a:t> function renders raw JSON data into HTML tables for human inspection</a:t>
            </a:r>
            <a:endParaRPr lang="en-US" sz="1500"/>
          </a:p>
          <a:p>
            <a:pPr>
              <a:lnSpc>
                <a:spcPct val="110000"/>
              </a:lnSpc>
              <a:defRPr/>
            </a:pPr>
            <a:r>
              <a:rPr lang="en-US" sz="1500">
                <a:ea typeface="+mn-lt"/>
                <a:cs typeface="+mn-lt"/>
              </a:rPr>
              <a:t>The testing is purely observational. There are no automated assertions, unit tests, or edge-case handling (e.g. API failure)</a:t>
            </a:r>
            <a:endParaRPr lang="en-US" sz="1500"/>
          </a:p>
        </p:txBody>
      </p:sp>
      <p:pic>
        <p:nvPicPr>
          <p:cNvPr id="924285615" name="Picture 3" descr="A screenshot of a computer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80675" y="1114923"/>
            <a:ext cx="4858952" cy="4628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7062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Conclusion</a:t>
            </a:r>
            <a:endParaRPr/>
          </a:p>
        </p:txBody>
      </p:sp>
      <p:sp>
        <p:nvSpPr>
          <p:cNvPr id="489057470" name="Content Placehold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The project successfully demonstrates a full data pipeline: Database → Internal API → Frontend Aggregation → Visualization</a:t>
            </a:r>
            <a:endParaRPr lang="en-US"/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Functional integration of different data sources (SQL + NBP API)</a:t>
            </a:r>
            <a:endParaRPr lang="en-US"/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Visual representation using modern charting libraries</a:t>
            </a:r>
            <a:endParaRPr lang="en-US"/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Containerized deployment capability</a:t>
            </a:r>
            <a:endParaRPr lang="en-US"/>
          </a:p>
          <a:p>
            <a:pPr marL="0" indent="0">
              <a:buNone/>
              <a:defRPr/>
            </a:pPr>
            <a:r>
              <a:rPr lang="en-US">
                <a:ea typeface="+mn-lt"/>
                <a:cs typeface="+mn-lt"/>
              </a:rPr>
              <a:t>The application meets the requirement of displaying stored data but lacks </a:t>
            </a:r>
            <a:r>
              <a:rPr lang="en-US">
                <a:ea typeface="+mn-lt"/>
                <a:cs typeface="+mn-lt"/>
              </a:rPr>
              <a:t>interactive filtering or robust automated testing.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Arial"/>
        <a:cs typeface="Arial"/>
      </a:majorFont>
      <a:minorFont>
        <a:latin typeface="Neue Haas Grotesk Text Pr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">
      <a:majorFont>
        <a:latin typeface="Neue Haas Grotesk Text Pro"/>
        <a:ea typeface="Arial"/>
        <a:cs typeface="Arial"/>
      </a:majorFont>
      <a:minorFont>
        <a:latin typeface="Neue Haas Grotesk Text Pr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2026-01-04T15:41:35Z</dcterms:created>
  <dcterms:modified xsi:type="dcterms:W3CDTF">2026-01-08T13:01:35Z</dcterms:modified>
</cp:coreProperties>
</file>